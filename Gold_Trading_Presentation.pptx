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256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5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EDBBD-E634-4138-83D2-59F9C8E77C56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86311-D26D-42BA-8817-16BCCF34BD2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9945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286311-D26D-42BA-8817-16BCCF34BD24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152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806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2690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653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5575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986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177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349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0438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607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597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411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0152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910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938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4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17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BD1D8B6-1845-4A7A-9248-096CF5789A41}" type="datetimeFigureOut">
              <a:rPr lang="es-CL" smtClean="0"/>
              <a:t>23-03-2026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CB14C73-C254-4103-A8A6-F3F32F18967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603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F5FC-B6E0-0D4A-7547-DFFE27845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820" y="344129"/>
            <a:ext cx="8780206" cy="282185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s-ES" dirty="0"/>
              <a:t>Proyecto Oro</a:t>
            </a:r>
            <a:br>
              <a:rPr lang="es-ES" dirty="0"/>
            </a:br>
            <a:r>
              <a:rPr lang="es-ES" sz="3200" b="1" dirty="0"/>
              <a:t>Sistema de apoyo a decisiones intradía para XAU/USD</a:t>
            </a:r>
            <a:br>
              <a:rPr lang="es-ES" sz="3100" b="1" dirty="0"/>
            </a:br>
            <a:br>
              <a:rPr lang="es-ES" sz="3200" b="1" dirty="0"/>
            </a:br>
            <a:br>
              <a:rPr lang="es-ES" sz="3100" b="1" dirty="0"/>
            </a:br>
            <a:endParaRPr lang="es-CL" sz="31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7D2E55-A417-529A-4C5C-47CA216E8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9741" y="4010317"/>
            <a:ext cx="7305369" cy="738664"/>
          </a:xfrm>
        </p:spPr>
        <p:txBody>
          <a:bodyPr/>
          <a:lstStyle/>
          <a:p>
            <a:pPr algn="l"/>
            <a:r>
              <a:rPr lang="es-ES" sz="2000" dirty="0"/>
              <a:t>MVP de machine learning con variables técnicas y macroeconómicas para apoyar  decisiones intradías en XAU/USD.</a:t>
            </a:r>
            <a:endParaRPr lang="es-CL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99F92-7DB7-388A-CA91-DDBF6D4EE182}"/>
              </a:ext>
            </a:extLst>
          </p:cNvPr>
          <p:cNvSpPr txBox="1"/>
          <p:nvPr/>
        </p:nvSpPr>
        <p:spPr>
          <a:xfrm>
            <a:off x="6853085" y="5990651"/>
            <a:ext cx="77379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400" b="1" dirty="0"/>
              <a:t>Alumno: Franklin Patricio</a:t>
            </a:r>
          </a:p>
          <a:p>
            <a:pPr algn="l"/>
            <a:r>
              <a:rPr lang="es-CL" sz="1400" b="1" dirty="0"/>
              <a:t>Universidad de Chile</a:t>
            </a:r>
          </a:p>
          <a:p>
            <a:pPr algn="l"/>
            <a:r>
              <a:rPr lang="es-CL" sz="1400" b="1" dirty="0"/>
              <a:t>Diplomado en Ciencia de Datos para las Finanzas</a:t>
            </a:r>
          </a:p>
        </p:txBody>
      </p:sp>
    </p:spTree>
    <p:extLst>
      <p:ext uri="{BB962C8B-B14F-4D97-AF65-F5344CB8AC3E}">
        <p14:creationId xmlns:p14="http://schemas.microsoft.com/office/powerpoint/2010/main" val="1915427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B146CA-1B3C-C3CC-DAB6-763A99FEA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09" y="0"/>
            <a:ext cx="112221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24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DBAAE5-0DE1-DEDA-241F-2A6AAFA0D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3" y="987287"/>
            <a:ext cx="10628671" cy="488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73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336C10-D245-B2A9-9F28-7FFEEB088D50}"/>
              </a:ext>
            </a:extLst>
          </p:cNvPr>
          <p:cNvSpPr txBox="1"/>
          <p:nvPr/>
        </p:nvSpPr>
        <p:spPr>
          <a:xfrm>
            <a:off x="924232" y="639096"/>
            <a:ext cx="109629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MVP implementado</a:t>
            </a:r>
            <a:endParaRPr lang="es-ES" dirty="0"/>
          </a:p>
          <a:p>
            <a:pPr>
              <a:buNone/>
            </a:pPr>
            <a:r>
              <a:rPr lang="es-ES" dirty="0"/>
              <a:t>Integración de datos OHLCV de XAU/USD a 5 minutos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Integración de calendario macroeconómico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Construcción de variables técnicas: retornos, momentum, RSI, ATR, volatilidad y medias móviles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Construcción de variables macro: minutos al evento, minutos desde evento, impacto y eventos  USD/FED/inflación/empleo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Entrenamiento de modelos baseline: Logistic Regression y Random Forest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Generación de probabilidades, señales y backtesting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29F2A-BBCB-AFAC-8F00-F1575FB49E8F}"/>
              </a:ext>
            </a:extLst>
          </p:cNvPr>
          <p:cNvSpPr txBox="1"/>
          <p:nvPr/>
        </p:nvSpPr>
        <p:spPr>
          <a:xfrm>
            <a:off x="1032386" y="3205315"/>
            <a:ext cx="104615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Resultado del MVP:</a:t>
            </a:r>
            <a:r>
              <a:rPr lang="es-ES" dirty="0"/>
              <a:t> pipeline funcional end-to-end con exportación de métricas y resultados para análisis.</a:t>
            </a:r>
          </a:p>
          <a:p>
            <a:pPr>
              <a:buNone/>
            </a:pPr>
            <a:r>
              <a:rPr lang="es-ES" dirty="0"/>
              <a:t>Lo que dirías al explicarla:</a:t>
            </a:r>
            <a:br>
              <a:rPr lang="es-ES" dirty="0"/>
            </a:br>
            <a:r>
              <a:rPr lang="es-ES" dirty="0"/>
              <a:t>“En esta etapa implementé un MVP completo. Primero integré precios de oro y calendario macroeconómico, luego construí variables técnicas y macro, entrené dos modelos baseline y finalmente generé señales con backtesting para evaluar su utilidad.”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DD6042E-1887-77E7-FF34-F87F0FCC0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233" y="5393135"/>
            <a:ext cx="106679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32433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E0D70B-7DBE-3695-DC57-BF3C257500D8}"/>
              </a:ext>
            </a:extLst>
          </p:cNvPr>
          <p:cNvSpPr txBox="1"/>
          <p:nvPr/>
        </p:nvSpPr>
        <p:spPr>
          <a:xfrm>
            <a:off x="786581" y="648929"/>
            <a:ext cx="105008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 Principales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 modelable final: 12.741 observaciones y 43 variables de entrada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Logistic Regression obtuvo mejor desempeño que Random Forest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Logistic Regression: Accuracy 0,526 y AUC 0,532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Random Forest: Accuracy 0,503 y AUC 0,513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sistema aún no alcanza rentabilidad consistente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 embargo, el modelo logístico redujo pérdidas frente al benchmark del mercado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Variables relevantes: RSI, ATR, volatilidad, distancia a medias y cercanía a eventos macroeconómicos </a:t>
            </a:r>
            <a:endParaRPr lang="es-C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C95B0B-E0B0-FF56-E22C-153F79A33A72}"/>
              </a:ext>
            </a:extLst>
          </p:cNvPr>
          <p:cNvSpPr txBox="1"/>
          <p:nvPr/>
        </p:nvSpPr>
        <p:spPr>
          <a:xfrm>
            <a:off x="953728" y="3116825"/>
            <a:ext cx="88785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“Los resultados muestran que Logistic Regression superó a Random Forest en esta versión del MVP. Aunque la estrategia todavía no alcanza rentabilidad consistente, sí demuestra factibilidad técnica y una capacidad inicial de reducir pérdidas frente al mercado.”</a:t>
            </a:r>
            <a:endParaRPr lang="es-CL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682D3E-7B36-7E5B-E25C-000AF2805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582" y="4029593"/>
            <a:ext cx="1016655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L" altLang="es-CL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Conjunto de datos modelable final: 12.741 observaciones y 43 variables de entrada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 embargo, el modelo logístico redujo pérdidas frente a la referencia del mercado </a:t>
            </a:r>
          </a:p>
        </p:txBody>
      </p:sp>
    </p:spTree>
    <p:extLst>
      <p:ext uri="{BB962C8B-B14F-4D97-AF65-F5344CB8AC3E}">
        <p14:creationId xmlns:p14="http://schemas.microsoft.com/office/powerpoint/2010/main" val="418207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671D52-2E6F-0461-FB28-65FFFBF3FB7A}"/>
              </a:ext>
            </a:extLst>
          </p:cNvPr>
          <p:cNvSpPr txBox="1"/>
          <p:nvPr/>
        </p:nvSpPr>
        <p:spPr>
          <a:xfrm>
            <a:off x="1012723" y="1169301"/>
            <a:ext cx="106778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Conclusiones 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proyecto demuestra la factibilidad técnica de integrar datos de mercado y eventos macroeconómicos en una solución de apoyo a decisiones intradía sobre XAU/USD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El MVP permitió construir un pipeline completo de datos, modelado, señal y backtesting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Logistic Regression mostró mejor desempeño que Random Forest en esta versión del sistema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Aunque la estrategia aún no alcanza rentabilidad consistente, sí entrega una base cuantitativa útil para futuras mejoras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Próximos pasos: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ampliar la ventana histórica de datos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optimizar thresholds de entrada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redefinir el target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incorporar filtro de tendencia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realizar validación walk-forward</a:t>
            </a:r>
          </a:p>
        </p:txBody>
      </p:sp>
    </p:spTree>
    <p:extLst>
      <p:ext uri="{BB962C8B-B14F-4D97-AF65-F5344CB8AC3E}">
        <p14:creationId xmlns:p14="http://schemas.microsoft.com/office/powerpoint/2010/main" val="614742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94</TotalTime>
  <Words>440</Words>
  <Application>Microsoft Office PowerPoint</Application>
  <PresentationFormat>Widescreen</PresentationFormat>
  <Paragraphs>38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Garamond</vt:lpstr>
      <vt:lpstr>Organic</vt:lpstr>
      <vt:lpstr>Proyecto Oro Sistema de apoyo a decisiones intradía para XAU/USD 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Franklin Patricio Gonzales</dc:creator>
  <cp:lastModifiedBy>Franklin Patricio Gonzales</cp:lastModifiedBy>
  <cp:revision>1</cp:revision>
  <dcterms:created xsi:type="dcterms:W3CDTF">2026-03-23T14:51:45Z</dcterms:created>
  <dcterms:modified xsi:type="dcterms:W3CDTF">2026-03-23T16:26:22Z</dcterms:modified>
</cp:coreProperties>
</file>